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9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77000" cy="10287000"/>
          </a:xfrm>
          <a:prstGeom prst="rect">
            <a:avLst/>
          </a:prstGeom>
          <a:solidFill>
            <a:srgbClr val="09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4648200"/>
            <a:ext cx="19050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PROPERTY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7000" y="0"/>
            <a:ext cx="11811000" cy="1028700"/>
          </a:xfrm>
          <a:prstGeom prst="rect">
            <a:avLst/>
          </a:prstGeom>
          <a:solidFill>
            <a:srgbClr val="011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34200" y="266700"/>
            <a:ext cx="4762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1FFB7"/>
                </a:solidFill>
                <a:latin typeface="Bookman Old Style"/>
              </a:rPr>
              <a:t>Levy</a:t>
            </a:r>
            <a:r>
              <a:rPr sz="1800" b="0">
                <a:solidFill>
                  <a:srgbClr val="FFFFFF"/>
                </a:solidFill>
                <a:latin typeface="Bookman Old Style"/>
              </a:rPr>
              <a:t> Legacy Group.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34200" y="723900"/>
            <a:ext cx="2857500" cy="209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01FFB7"/>
                </a:solidFill>
                <a:latin typeface="Arial"/>
              </a:rPr>
              <a:t>NOW LEASING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1447800"/>
            <a:ext cx="8191500" cy="666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 i="0">
                <a:solidFill>
                  <a:srgbClr val="01133D"/>
                </a:solidFill>
                <a:latin typeface="Bookman Old Style"/>
              </a:rPr>
              <a:t>14 Harbor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4200" y="2133600"/>
            <a:ext cx="8191500" cy="666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 i="0">
                <a:solidFill>
                  <a:srgbClr val="01133D"/>
                </a:solidFill>
                <a:latin typeface="Bookman Old Style"/>
              </a:rPr>
              <a:t>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4200" y="2857500"/>
            <a:ext cx="66675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4C4DC3"/>
                </a:solidFill>
                <a:latin typeface="Arial"/>
              </a:rPr>
              <a:t>JERSEY CITY, NJ  ·  07302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3276600"/>
            <a:ext cx="15049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1133D"/>
                </a:solidFill>
                <a:latin typeface="Bookman Old Style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3752850"/>
            <a:ext cx="1504950" cy="190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4C4DC3"/>
                </a:solidFill>
                <a:latin typeface="Arial"/>
              </a:rPr>
              <a:t>BEDROOMS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5350" y="3276600"/>
            <a:ext cx="15049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1133D"/>
                </a:solidFill>
                <a:latin typeface="Bookman Old Style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5350" y="3752850"/>
            <a:ext cx="1504950" cy="190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4C4DC3"/>
                </a:solidFill>
                <a:latin typeface="Arial"/>
              </a:rPr>
              <a:t>BATHROOMS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6500" y="3276600"/>
            <a:ext cx="15049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1133D"/>
                </a:solidFill>
                <a:latin typeface="Bookman Old Style"/>
              </a:rPr>
              <a:t>1,450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96500" y="3752850"/>
            <a:ext cx="1504950" cy="190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4C4DC3"/>
                </a:solidFill>
                <a:latin typeface="Arial"/>
              </a:rPr>
              <a:t>SQ 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77650" y="3276600"/>
            <a:ext cx="15049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i="0">
                <a:solidFill>
                  <a:srgbClr val="01133D"/>
                </a:solidFill>
                <a:latin typeface="Bookman Old Style"/>
              </a:rPr>
              <a:t>1987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77650" y="3752850"/>
            <a:ext cx="1504950" cy="190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4C4DC3"/>
                </a:solidFill>
                <a:latin typeface="Arial"/>
              </a:rPr>
              <a:t>BUILT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4038600"/>
            <a:ext cx="8001000" cy="9525"/>
          </a:xfrm>
          <a:prstGeom prst="rect">
            <a:avLst/>
          </a:prstGeom>
          <a:solidFill>
            <a:srgbClr val="4C4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4200" y="4305300"/>
            <a:ext cx="228600" cy="3238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1FFB7"/>
                </a:solidFill>
                <a:latin typeface="Arial"/>
              </a:rPr>
              <a:t>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1850" y="4210050"/>
            <a:ext cx="1714500" cy="495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200" b="1" i="0">
                <a:solidFill>
                  <a:srgbClr val="01FFB7"/>
                </a:solidFill>
                <a:latin typeface="Bookman Old Style"/>
              </a:rPr>
              <a:t>3,600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0" y="4381500"/>
            <a:ext cx="13335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8084A0"/>
                </a:solidFill>
                <a:latin typeface="Arial"/>
              </a:rPr>
              <a:t>PER MONTH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48950" y="4286250"/>
            <a:ext cx="2286000" cy="342900"/>
          </a:xfrm>
          <a:prstGeom prst="rect">
            <a:avLst/>
          </a:prstGeom>
          <a:noFill/>
          <a:ln w="9525">
            <a:solidFill>
              <a:srgbClr val="01F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2300" y="4381500"/>
            <a:ext cx="2076450" cy="190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 i="0">
                <a:solidFill>
                  <a:srgbClr val="01FFB7"/>
                </a:solidFill>
                <a:latin typeface="Arial"/>
              </a:rPr>
              <a:t>● AVAILABLE AUG 15,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819650"/>
            <a:ext cx="80010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4C4DC3"/>
                </a:solidFill>
                <a:latin typeface="Arial"/>
              </a:rPr>
              <a:t>ABOUT THIS 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4200" y="5029200"/>
            <a:ext cx="80010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1133D"/>
                </a:solidFill>
                <a:latin typeface="Arial"/>
              </a:rPr>
              <a:t>Stunning waterfront residence with panoramic Hudson River views. Renovated kitchen, spa-inspired baths, in-unit laundry, central air, and a private outdoor terrace. Steps from the Grove Street PATH station.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77000" y="8572500"/>
            <a:ext cx="11811000" cy="1714500"/>
          </a:xfrm>
          <a:prstGeom prst="rect">
            <a:avLst/>
          </a:prstGeom>
          <a:solidFill>
            <a:srgbClr val="011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7000" y="8572500"/>
            <a:ext cx="11811000" cy="19050"/>
          </a:xfrm>
          <a:prstGeom prst="rect">
            <a:avLst/>
          </a:prstGeom>
          <a:solidFill>
            <a:srgbClr val="01FF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4200" y="8763000"/>
            <a:ext cx="19050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97B9FF"/>
                </a:solidFill>
                <a:latin typeface="Arial"/>
              </a:rPr>
              <a:t>LEASING 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4200" y="8972550"/>
            <a:ext cx="24765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Bookman Old Style"/>
              </a:rPr>
              <a:t>Marcus Levy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8763000"/>
            <a:ext cx="15240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97B9FF"/>
                </a:solidFill>
                <a:latin typeface="Arial"/>
              </a:rPr>
              <a:t>PHONE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8972550"/>
            <a:ext cx="19050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(212) 555-0291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01450" y="8763000"/>
            <a:ext cx="17145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97B9FF"/>
                </a:solidFill>
                <a:latin typeface="Arial"/>
              </a:rPr>
              <a:t>EMAIL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01450" y="8972550"/>
            <a:ext cx="40005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leasing@levylegacygroup.com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4200" y="9886950"/>
            <a:ext cx="76200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0" i="0">
                <a:solidFill>
                  <a:srgbClr val="607090"/>
                </a:solidFill>
                <a:latin typeface="Arial"/>
              </a:rPr>
              <a:t>Equal Housing Opportunity  ·  Licensed Real Estate Broker  ·  New Jersey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