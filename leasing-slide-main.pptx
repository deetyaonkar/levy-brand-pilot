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9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77000" cy="10287000"/>
          </a:xfrm>
          <a:prstGeom prst="rect">
            <a:avLst/>
          </a:prstGeom>
          <a:solidFill>
            <a:srgbClr val="09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4667250"/>
            <a:ext cx="1905000" cy="2476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PROPERTY PHOTO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77000" y="0"/>
            <a:ext cx="11811000" cy="1028700"/>
          </a:xfrm>
          <a:prstGeom prst="rect">
            <a:avLst/>
          </a:prstGeom>
          <a:solidFill>
            <a:srgbClr val="011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34200" y="266700"/>
            <a:ext cx="4762500" cy="419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1FFB7"/>
                </a:solidFill>
                <a:latin typeface="Bookman Old Style"/>
              </a:rPr>
              <a:t>Levy</a:t>
            </a:r>
            <a:r>
              <a:rPr sz="1800" b="0">
                <a:solidFill>
                  <a:srgbClr val="FFFFFF"/>
                </a:solidFill>
                <a:latin typeface="Bookman Old Style"/>
              </a:rPr>
              <a:t> Legacy Group.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34200" y="723900"/>
            <a:ext cx="2857500" cy="209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01FFB7"/>
                </a:solidFill>
                <a:latin typeface="Arial"/>
              </a:rPr>
              <a:t>NOW LEASING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34200" y="1409700"/>
            <a:ext cx="8191500" cy="666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200" b="1">
                <a:solidFill>
                  <a:srgbClr val="01133D"/>
                </a:solidFill>
                <a:latin typeface="Bookman Old Style"/>
              </a:rPr>
              <a:t>14 Harbor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34200" y="2095500"/>
            <a:ext cx="8191500" cy="666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200" b="1">
                <a:solidFill>
                  <a:srgbClr val="01133D"/>
                </a:solidFill>
                <a:latin typeface="Bookman Old Style"/>
              </a:rPr>
              <a:t>Court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34200" y="2819400"/>
            <a:ext cx="6667500" cy="2476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C4DC3"/>
                </a:solidFill>
                <a:latin typeface="Arial"/>
              </a:rPr>
              <a:t>JERSEY CITY, NJ  ·  07302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34200" y="3238500"/>
            <a:ext cx="150495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1133D"/>
                </a:solidFill>
                <a:latin typeface="Bookman Old Style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34200" y="3714750"/>
            <a:ext cx="1504950" cy="190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4C4DC3"/>
                </a:solidFill>
                <a:latin typeface="Arial"/>
              </a:rPr>
              <a:t>BEDROOMS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15350" y="3238500"/>
            <a:ext cx="150495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1133D"/>
                </a:solidFill>
                <a:latin typeface="Bookman Old Style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15350" y="3714750"/>
            <a:ext cx="1504950" cy="190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4C4DC3"/>
                </a:solidFill>
                <a:latin typeface="Arial"/>
              </a:rPr>
              <a:t>BATHROOMS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96500" y="3238500"/>
            <a:ext cx="150495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1133D"/>
                </a:solidFill>
                <a:latin typeface="Bookman Old Style"/>
              </a:rPr>
              <a:t>1,450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96500" y="3714750"/>
            <a:ext cx="1504950" cy="190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4C4DC3"/>
                </a:solidFill>
                <a:latin typeface="Arial"/>
              </a:rPr>
              <a:t>SQ 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77650" y="3238500"/>
            <a:ext cx="150495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1133D"/>
                </a:solidFill>
                <a:latin typeface="Bookman Old Style"/>
              </a:rPr>
              <a:t>1987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77650" y="3714750"/>
            <a:ext cx="1504950" cy="190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4C4DC3"/>
                </a:solidFill>
                <a:latin typeface="Arial"/>
              </a:rPr>
              <a:t>BUILT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34200" y="4000500"/>
            <a:ext cx="8001000" cy="9525"/>
          </a:xfrm>
          <a:prstGeom prst="rect">
            <a:avLst/>
          </a:prstGeom>
          <a:solidFill>
            <a:srgbClr val="4C4D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34200" y="4686300"/>
            <a:ext cx="1866900" cy="28575"/>
          </a:xfrm>
          <a:prstGeom prst="rect">
            <a:avLst/>
          </a:prstGeom>
          <a:solidFill>
            <a:srgbClr val="01F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34200" y="4267200"/>
            <a:ext cx="22860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1133D"/>
                </a:solidFill>
                <a:latin typeface="Arial"/>
              </a:rPr>
              <a:t>$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81850" y="4171950"/>
            <a:ext cx="1866900" cy="514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200" b="1">
                <a:solidFill>
                  <a:srgbClr val="01133D"/>
                </a:solidFill>
                <a:latin typeface="Bookman Old Style"/>
              </a:rPr>
              <a:t>3,600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05900" y="4343400"/>
            <a:ext cx="13335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607080"/>
                </a:solidFill>
                <a:latin typeface="Arial"/>
              </a:rPr>
              <a:t>PER MONTH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648950" y="4248150"/>
            <a:ext cx="2362200" cy="361950"/>
          </a:xfrm>
          <a:prstGeom prst="rect">
            <a:avLst/>
          </a:prstGeom>
          <a:noFill/>
          <a:ln w="9525">
            <a:solidFill>
              <a:srgbClr val="01F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763250" y="4391025"/>
            <a:ext cx="76200" cy="76200"/>
          </a:xfrm>
          <a:prstGeom prst="ellipse">
            <a:avLst/>
          </a:prstGeom>
          <a:solidFill>
            <a:srgbClr val="01F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896600" y="4343400"/>
            <a:ext cx="2038350" cy="190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01133D"/>
                </a:solidFill>
                <a:latin typeface="Arial"/>
              </a:rPr>
              <a:t>AVAILABLE AUG 15,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34200" y="4800600"/>
            <a:ext cx="8001000" cy="171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4C4DC3"/>
                </a:solidFill>
                <a:latin typeface="Arial"/>
              </a:rPr>
              <a:t>ABOUT THIS HOME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34200" y="5010150"/>
            <a:ext cx="8001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1133D"/>
                </a:solidFill>
                <a:latin typeface="Arial"/>
              </a:rPr>
              <a:t>Stunning waterfront residence with panoramic Hudson River views. Renovated kitchen, spa-inspired baths, in-unit laundry, central air, and a private outdoor terrace. Steps from the Grove Street PATH station.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77000" y="8572500"/>
            <a:ext cx="11811000" cy="1714500"/>
          </a:xfrm>
          <a:prstGeom prst="rect">
            <a:avLst/>
          </a:prstGeom>
          <a:solidFill>
            <a:srgbClr val="011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77000" y="8572500"/>
            <a:ext cx="11811000" cy="19050"/>
          </a:xfrm>
          <a:prstGeom prst="rect">
            <a:avLst/>
          </a:prstGeom>
          <a:solidFill>
            <a:srgbClr val="01F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34200" y="8763000"/>
            <a:ext cx="1905000" cy="171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97B9FF"/>
                </a:solidFill>
                <a:latin typeface="Arial"/>
              </a:rPr>
              <a:t>LEASING CONTACT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34200" y="8972550"/>
            <a:ext cx="24765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Bookman Old Style"/>
              </a:rPr>
              <a:t>Marcus Levy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8763000"/>
            <a:ext cx="1524000" cy="171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97B9FF"/>
                </a:solidFill>
                <a:latin typeface="Arial"/>
              </a:rPr>
              <a:t>PHONE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8972550"/>
            <a:ext cx="1905000" cy="2476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(212) 555-0291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01450" y="8763000"/>
            <a:ext cx="1714500" cy="171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97B9FF"/>
                </a:solidFill>
                <a:latin typeface="Arial"/>
              </a:rPr>
              <a:t>EMAIL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601450" y="8972550"/>
            <a:ext cx="4000500" cy="2476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leasing@levylegacygroup.com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34200" y="9886950"/>
            <a:ext cx="7620000" cy="171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607090"/>
                </a:solidFill>
                <a:latin typeface="Arial"/>
              </a:rPr>
              <a:t>Equal Housing Opportunity  ·  Licensed Real Estate Broker  ·  New Jersey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